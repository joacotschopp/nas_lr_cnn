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2500"/>
              <a:t>Buenas tardes. Presento mi investigación sobre la Búsqueda de Arquitectura Neuronal (NAS), replicando y analizando la metodología pionera de Zoph y Le (2016). Mi objetivo fue desafiar la complejidad del diseño manual de redes profundas utilizando aprendizaje por refuerzo.</a:t>
            </a:r>
            <a:endParaRPr sz="25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f1dbba60f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f1dbba60f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1200"/>
              </a:spcBef>
              <a:spcAft>
                <a:spcPts val="0"/>
              </a:spcAft>
              <a:buClr>
                <a:schemeClr val="dk1"/>
              </a:buClr>
              <a:buSzPts val="2200"/>
              <a:buChar char="●"/>
            </a:pPr>
            <a:r>
              <a:rPr lang="es-419" sz="2200">
                <a:solidFill>
                  <a:schemeClr val="dk1"/>
                </a:solidFill>
              </a:rPr>
              <a:t>En la última década, el Deep Learning ha avanzado enormemente, pero el diseño de estas arquitecturas se ha vuelto cada vez más complejo y depende de una intuición casi artesanal. </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s-419" sz="2200">
                <a:solidFill>
                  <a:schemeClr val="dk1"/>
                </a:solidFill>
              </a:rPr>
              <a:t>La pregunta que motivó este trabajo es: ¿Podemos automatizar esta ingeniería? Zoph y Le propusieron que sí, usando agentes inteligentes.</a:t>
            </a:r>
            <a:endParaRPr sz="2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f1dbba60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f1dbba60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419">
                <a:solidFill>
                  <a:schemeClr val="dk1"/>
                </a:solidFill>
              </a:rPr>
              <a:t>Tratamos el diseño de una red neuronal como un problema de Aprendizaje por Refuerzo.</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Tenemos un </a:t>
            </a:r>
            <a:r>
              <a:rPr b="1" lang="es-419">
                <a:solidFill>
                  <a:schemeClr val="dk1"/>
                </a:solidFill>
              </a:rPr>
              <a:t>Controlador</a:t>
            </a:r>
            <a:r>
              <a:rPr lang="es-419">
                <a:solidFill>
                  <a:schemeClr val="dk1"/>
                </a:solidFill>
              </a:rPr>
              <a:t> (una RNN) que propone una arquitectura.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419">
                <a:solidFill>
                  <a:schemeClr val="dk1"/>
                </a:solidFill>
              </a:rPr>
              <a:t>Construimos y entrenamos esa </a:t>
            </a:r>
            <a:r>
              <a:rPr b="1" lang="es-419">
                <a:solidFill>
                  <a:schemeClr val="dk1"/>
                </a:solidFill>
              </a:rPr>
              <a:t>'Red Hija'</a:t>
            </a:r>
            <a:r>
              <a:rPr lang="es-419">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419">
                <a:solidFill>
                  <a:schemeClr val="dk1"/>
                </a:solidFill>
              </a:rPr>
              <a:t>Su precisión en validación se convierte en la </a:t>
            </a:r>
            <a:r>
              <a:rPr b="1" lang="es-419">
                <a:solidFill>
                  <a:schemeClr val="dk1"/>
                </a:solidFill>
              </a:rPr>
              <a:t>recompensa</a:t>
            </a:r>
            <a:r>
              <a:rPr lang="es-419">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419">
                <a:solidFill>
                  <a:schemeClr val="dk1"/>
                </a:solidFill>
              </a:rPr>
              <a:t>El controlador aprende qué diseños funcionan y cuáles no.</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f1dbba60f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f1dbba60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solidFill>
                  <a:schemeClr val="dk1"/>
                </a:solidFill>
              </a:rPr>
              <a:t>Entremos en la mecánica del método. Para entender el 'Controlador', hay que pensar en él no como una red que mira imágenes, sino como un arquitecto ciego que escribe instrucciones.</a:t>
            </a:r>
            <a:endParaRPr>
              <a:solidFill>
                <a:schemeClr val="dk1"/>
              </a:solidFill>
            </a:endParaRPr>
          </a:p>
          <a:p>
            <a:pPr indent="0" lvl="0" marL="0" rtl="0" algn="l">
              <a:lnSpc>
                <a:spcPct val="115000"/>
              </a:lnSpc>
              <a:spcBef>
                <a:spcPts val="1200"/>
              </a:spcBef>
              <a:spcAft>
                <a:spcPts val="0"/>
              </a:spcAft>
              <a:buNone/>
            </a:pPr>
            <a:r>
              <a:rPr lang="es-419">
                <a:solidFill>
                  <a:schemeClr val="dk1"/>
                </a:solidFill>
              </a:rPr>
              <a:t>En mi implementación, utilicé una red recurrente LSTM. Su trabajo es generar una secuencia de decisiones, lo que llamo el 'ADN' de la arquitectura4444.</a:t>
            </a:r>
            <a:endParaRPr>
              <a:solidFill>
                <a:schemeClr val="dk1"/>
              </a:solidFill>
            </a:endParaRPr>
          </a:p>
          <a:p>
            <a:pPr indent="0" lvl="0" marL="0" rtl="0" algn="l">
              <a:lnSpc>
                <a:spcPct val="115000"/>
              </a:lnSpc>
              <a:spcBef>
                <a:spcPts val="1200"/>
              </a:spcBef>
              <a:spcAft>
                <a:spcPts val="0"/>
              </a:spcAft>
              <a:buNone/>
            </a:pPr>
            <a:r>
              <a:rPr i="1" lang="es-419">
                <a:solidFill>
                  <a:schemeClr val="dk1"/>
                </a:solidFill>
              </a:rPr>
              <a:t>Funciona así:</a:t>
            </a:r>
            <a:endParaRPr i="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i="1" lang="es-419">
                <a:solidFill>
                  <a:schemeClr val="dk1"/>
                </a:solidFill>
              </a:rPr>
              <a:t>En el paso 1, la LSTM pregunta: '¿Qué tamaño de kernel uso para la primera capa?'. Lanza los dados basándose en sus probabilidades y elige, por ejemplo, </a:t>
            </a:r>
            <a:r>
              <a:rPr b="1" i="1" lang="es-419">
                <a:solidFill>
                  <a:schemeClr val="dk1"/>
                </a:solidFill>
              </a:rPr>
              <a:t>$3\times3$</a:t>
            </a:r>
            <a:r>
              <a:rPr i="1" lang="es-419">
                <a:solidFill>
                  <a:schemeClr val="dk1"/>
                </a:solidFill>
              </a:rPr>
              <a:t>.</a:t>
            </a: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i="1" lang="es-419">
                <a:solidFill>
                  <a:schemeClr val="dk1"/>
                </a:solidFill>
              </a:rPr>
              <a:t>En el paso 2, pregunta: '¿Cuántos filtros?'. Y elige </a:t>
            </a:r>
            <a:r>
              <a:rPr b="1" i="1" lang="es-419">
                <a:solidFill>
                  <a:schemeClr val="dk1"/>
                </a:solidFill>
              </a:rPr>
              <a:t>32</a:t>
            </a:r>
            <a:r>
              <a:rPr i="1" lang="es-419">
                <a:solidFill>
                  <a:schemeClr val="dk1"/>
                </a:solidFill>
              </a:rPr>
              <a:t>.</a:t>
            </a: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i="1" lang="es-419">
                <a:solidFill>
                  <a:schemeClr val="dk1"/>
                </a:solidFill>
              </a:rPr>
              <a:t>Repite esto hasta definir la red completa.</a:t>
            </a:r>
            <a:endParaRPr i="1">
              <a:solidFill>
                <a:schemeClr val="dk1"/>
              </a:solidFill>
            </a:endParaRPr>
          </a:p>
          <a:p>
            <a:pPr indent="0" lvl="0" marL="0" rtl="0" algn="l">
              <a:lnSpc>
                <a:spcPct val="115000"/>
              </a:lnSpc>
              <a:spcBef>
                <a:spcPts val="1200"/>
              </a:spcBef>
              <a:spcAft>
                <a:spcPts val="0"/>
              </a:spcAft>
              <a:buNone/>
            </a:pPr>
            <a:r>
              <a:rPr lang="es-419">
                <a:solidFill>
                  <a:schemeClr val="dk1"/>
                </a:solidFill>
              </a:rPr>
              <a:t>Una vez que tiene el plano completo, construimos esa red y la probamos. Aquí viene la magia del algoritmo </a:t>
            </a:r>
            <a:r>
              <a:rPr b="1" lang="es-419">
                <a:solidFill>
                  <a:schemeClr val="dk1"/>
                </a:solidFill>
              </a:rPr>
              <a:t>REINFORCE</a:t>
            </a:r>
            <a:r>
              <a:rPr lang="es-419">
                <a:solidFill>
                  <a:schemeClr val="dk1"/>
                </a:solidFill>
              </a:rPr>
              <a:t>: si esa red tiene un buen desempeño, le damos una 'recompensa' positiva al controlador. Matemáticamente, esto ajusta los gradientes para que, en el futuro, el arquitecto tenga </a:t>
            </a:r>
            <a:r>
              <a:rPr b="1" lang="es-419">
                <a:solidFill>
                  <a:schemeClr val="dk1"/>
                </a:solidFill>
              </a:rPr>
              <a:t>mayor probabilidad</a:t>
            </a:r>
            <a:r>
              <a:rPr lang="es-419">
                <a:solidFill>
                  <a:schemeClr val="dk1"/>
                </a:solidFill>
              </a:rPr>
              <a:t> de volver a elegir esa combinación ganadora de kernel y filtros</a:t>
            </a:r>
            <a:r>
              <a:rPr baseline="30000" lang="es-419" sz="2000">
                <a:solidFill>
                  <a:schemeClr val="dk1"/>
                </a:solidFill>
              </a:rPr>
              <a:t>5555</a:t>
            </a:r>
            <a:r>
              <a:rPr lang="es-419">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s-419" sz="1300">
                <a:solidFill>
                  <a:schemeClr val="dk1"/>
                </a:solidFill>
              </a:rPr>
              <a:t>¿Por qué es más esclarecedor?</a:t>
            </a:r>
            <a:endParaRPr b="1" sz="1300">
              <a:solidFill>
                <a:schemeClr val="dk1"/>
              </a:solidFill>
            </a:endParaRPr>
          </a:p>
          <a:p>
            <a:pPr indent="-298450" lvl="0" marL="457200" rtl="0" algn="l">
              <a:lnSpc>
                <a:spcPct val="115000"/>
              </a:lnSpc>
              <a:spcBef>
                <a:spcPts val="400"/>
              </a:spcBef>
              <a:spcAft>
                <a:spcPts val="0"/>
              </a:spcAft>
              <a:buClr>
                <a:schemeClr val="dk1"/>
              </a:buClr>
              <a:buSzPts val="1100"/>
              <a:buAutoNum type="arabicPeriod"/>
            </a:pPr>
            <a:r>
              <a:rPr b="1" lang="es-419">
                <a:solidFill>
                  <a:schemeClr val="dk1"/>
                </a:solidFill>
              </a:rPr>
              <a:t>Cambio de foco:</a:t>
            </a:r>
            <a:r>
              <a:rPr lang="es-419">
                <a:solidFill>
                  <a:schemeClr val="dk1"/>
                </a:solidFill>
              </a:rPr>
              <a:t> Pasas de "Generación secuencial" (muy técnico) a "Arquitecto que escribe instrucciones" (visual).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s-419">
                <a:solidFill>
                  <a:schemeClr val="dk1"/>
                </a:solidFill>
              </a:rPr>
              <a:t>Ejemplos concretos:</a:t>
            </a:r>
            <a:r>
              <a:rPr lang="es-419">
                <a:solidFill>
                  <a:schemeClr val="dk1"/>
                </a:solidFill>
              </a:rPr>
              <a:t> En lugar de decir solo "Espacio de búsqueda", dices explícitamente "Kernel $3\times3$, 32 filtros". Esto aterriza la teoría de tu implementación del código</a:t>
            </a:r>
            <a:r>
              <a:rPr baseline="30000" lang="es-419" sz="2000">
                <a:solidFill>
                  <a:schemeClr val="dk1"/>
                </a:solidFill>
              </a:rPr>
              <a:t>6</a:t>
            </a:r>
            <a:r>
              <a:rPr lang="es-419">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s-419">
                <a:solidFill>
                  <a:schemeClr val="dk1"/>
                </a:solidFill>
              </a:rPr>
              <a:t>Causa-Efecto:</a:t>
            </a:r>
            <a:r>
              <a:rPr lang="es-419">
                <a:solidFill>
                  <a:schemeClr val="dk1"/>
                </a:solidFill>
              </a:rPr>
              <a:t> Explicas REINFORCE como una consecuencia directa: "Si funciona bien $\rightarrow$ aumenta la probabilidad de repetirlo</a:t>
            </a:r>
            <a:endParaRPr>
              <a:solidFill>
                <a:schemeClr val="dk1"/>
              </a:solidFill>
            </a:endParaRPr>
          </a:p>
          <a:p>
            <a:pPr indent="0" lvl="0" marL="45720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f1dbba60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f1dbba60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Aquí me encontré con la realidad: Google usó 800 GPUs. Yo no. Por tanto, dividí mi trabajo en dos fases pragmáticas. Primero, una 'Demo' a pequeña escala para probar que el controlador aprende. Segundo, una 'reconstrucción forense' de la arquitectura ganadora del paper, la NASCNN15, para validar su potencia real.</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f1dbba60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f1dbba60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En la Fase 1, ejecuté el controlador durante 10 episodios. Como pueden ver en el gráfico, aunque partimos de decisiones aleatorias, el agente logró aprender y explorar. En el episodio 7, encontró un máximo global de recompensa, demostrando que el mecanismo de búsqueda funciona incluso con recursos limitados.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f1dbba60f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f1dbba60f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419" sz="1300">
                <a:solidFill>
                  <a:schemeClr val="dk1"/>
                </a:solidFill>
              </a:rPr>
              <a:t>1. Stride y Padding: El controlador ha seleccionado strides muy altos (ej. 11, 13, 16) que reducirían drásticamente la dimensión espacial de la imagen. Sin embargo, compensa esto</a:t>
            </a:r>
            <a:endParaRPr sz="1300">
              <a:solidFill>
                <a:schemeClr val="dk1"/>
              </a:solidFill>
            </a:endParaRPr>
          </a:p>
          <a:p>
            <a:pPr indent="0" lvl="0" marL="0" rtl="0" algn="l">
              <a:lnSpc>
                <a:spcPct val="115000"/>
              </a:lnSpc>
              <a:spcBef>
                <a:spcPts val="1200"/>
              </a:spcBef>
              <a:spcAft>
                <a:spcPts val="0"/>
              </a:spcAft>
              <a:buNone/>
            </a:pPr>
            <a:r>
              <a:rPr lang="es-419" sz="1300">
                <a:solidFill>
                  <a:schemeClr val="dk1"/>
                </a:solidFill>
              </a:rPr>
              <a:t>con paddings masivos (ej. 22 × 22, 25 × 25).</a:t>
            </a:r>
            <a:endParaRPr sz="1300">
              <a:solidFill>
                <a:schemeClr val="dk1"/>
              </a:solidFill>
            </a:endParaRPr>
          </a:p>
          <a:p>
            <a:pPr indent="0" lvl="0" marL="0" rtl="0" algn="l">
              <a:lnSpc>
                <a:spcPct val="115000"/>
              </a:lnSpc>
              <a:spcBef>
                <a:spcPts val="1200"/>
              </a:spcBef>
              <a:spcAft>
                <a:spcPts val="0"/>
              </a:spcAft>
              <a:buNone/>
            </a:pPr>
            <a:r>
              <a:rPr lang="es-419" sz="1300">
                <a:solidFill>
                  <a:schemeClr val="dk1"/>
                </a:solidFill>
              </a:rPr>
              <a:t>2. Kernels: A diferencia de la tendencia moderna de usar kernels pequeños (3 × 3), esta red utiliza kernels muy grandes (15 × 15, 24 × 24).</a:t>
            </a:r>
            <a:endParaRPr sz="1300">
              <a:solidFill>
                <a:schemeClr val="dk1"/>
              </a:solidFill>
            </a:endParaRPr>
          </a:p>
          <a:p>
            <a:pPr indent="0" lvl="0" marL="0" rtl="0" algn="l">
              <a:lnSpc>
                <a:spcPct val="115000"/>
              </a:lnSpc>
              <a:spcBef>
                <a:spcPts val="1200"/>
              </a:spcBef>
              <a:spcAft>
                <a:spcPts val="0"/>
              </a:spcAft>
              <a:buNone/>
            </a:pPr>
            <a:r>
              <a:rPr lang="es-419" sz="1300">
                <a:solidFill>
                  <a:schemeClr val="dk1"/>
                </a:solidFill>
              </a:rPr>
              <a:t>3. Filtros: El número de filtros es extremadamente bajo (entre 1 y 13).</a:t>
            </a:r>
            <a:endParaRPr sz="1300">
              <a:solidFill>
                <a:schemeClr val="dk1"/>
              </a:solidFill>
            </a:endParaRPr>
          </a:p>
          <a:p>
            <a:pPr indent="0" lvl="0" marL="45720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f1dbba60f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f1dbba60f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Pasamos a la Fase 2. El paper original reportaba una 'super red', la NASCNN15, pero no publicaron el código ni los hiperparámetros exactos. Tuve que realizar ingeniería inversa basándome únicamente en el diagrama visual de conexiones para reconstruir la topología en PyTorch. Es una red compleja con múltiples conexiones de salto (skip-connections).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f1dbba60f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f1dbba60f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Tras entrenar esta reconstrucción por 87 épocas, alcancé un 91.06% de accuracy en CIFAR-10. Si bien no igualé el 94.5% de Google (probablemente por falta de ajuste fino de hiperparámetros que ellos no revelaron), mi implementación superó a arquitecturas clásicas diseñadas por humanos, validando la eficacia del diseño automático.</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f1dbba60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f1dbba60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419">
                <a:solidFill>
                  <a:schemeClr val="dk1"/>
                </a:solidFill>
              </a:rPr>
              <a:t>Para concluir:</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s-419">
                <a:solidFill>
                  <a:schemeClr val="dk1"/>
                </a:solidFill>
              </a:rPr>
              <a:t>Validé que el RL puede superar la intuición humana diseñando arquitecturas 'livianas' pero potentes.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419">
                <a:solidFill>
                  <a:schemeClr val="dk1"/>
                </a:solidFill>
              </a:rPr>
              <a:t>Expuse la crisis de reproducibilidad: reconstruir la NASCNN15 fue un desafío 'forense' por falta de documentación.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s-419">
                <a:solidFill>
                  <a:schemeClr val="dk1"/>
                </a:solidFill>
              </a:rPr>
              <a:t>El método funciona, pero su costo computacional sigue siendo una barrera alta. Muchas gracias.</a:t>
            </a:r>
            <a:endParaRPr>
              <a:solidFill>
                <a:schemeClr val="dk1"/>
              </a:solidFill>
            </a:endParaRPr>
          </a:p>
          <a:p>
            <a:pPr indent="0" lvl="0" marL="45720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f1dbba60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f1dbba60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Neural Architecture Search</a:t>
            </a:r>
            <a:endParaRPr/>
          </a:p>
          <a:p>
            <a:pPr indent="0" lvl="0" marL="0" rtl="0" algn="l">
              <a:spcBef>
                <a:spcPts val="0"/>
              </a:spcBef>
              <a:spcAft>
                <a:spcPts val="0"/>
              </a:spcAft>
              <a:buNone/>
            </a:pPr>
            <a:r>
              <a:rPr lang="es-419"/>
              <a:t>con Aprendizaje por Refuerzo</a:t>
            </a:r>
            <a:endParaRPr/>
          </a:p>
        </p:txBody>
      </p:sp>
      <p:sp>
        <p:nvSpPr>
          <p:cNvPr id="86" name="Google Shape;86;p13"/>
          <p:cNvSpPr txBox="1"/>
          <p:nvPr>
            <p:ph idx="1" type="subTitle"/>
          </p:nvPr>
        </p:nvSpPr>
        <p:spPr>
          <a:xfrm>
            <a:off x="598088" y="4605363"/>
            <a:ext cx="8222100" cy="4329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s-419"/>
              <a:t>Autor: Esp. Lic. Tschopp Joaquín Sebastian</a:t>
            </a:r>
            <a:endParaRPr/>
          </a:p>
          <a:p>
            <a:pPr indent="0" lvl="0" marL="0" rtl="0" algn="l">
              <a:spcBef>
                <a:spcPts val="0"/>
              </a:spcBef>
              <a:spcAft>
                <a:spcPts val="0"/>
              </a:spcAft>
              <a:buNone/>
            </a:pPr>
            <a:r>
              <a:rPr lang="es-419"/>
              <a:t>Docentes: Dr. Ing. Cesar Caiafa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Motivación</a:t>
            </a:r>
            <a:endParaRPr/>
          </a:p>
        </p:txBody>
      </p:sp>
      <p:sp>
        <p:nvSpPr>
          <p:cNvPr id="92" name="Google Shape;92;p14"/>
          <p:cNvSpPr txBox="1"/>
          <p:nvPr/>
        </p:nvSpPr>
        <p:spPr>
          <a:xfrm>
            <a:off x="734775" y="1164650"/>
            <a:ext cx="5808300" cy="166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600">
                <a:solidFill>
                  <a:schemeClr val="lt1"/>
                </a:solidFill>
              </a:rPr>
              <a:t>La Evolución del Diseño Manual</a:t>
            </a:r>
            <a:r>
              <a:rPr lang="es-419" sz="1600">
                <a:solidFill>
                  <a:schemeClr val="lt1"/>
                </a:solidFill>
              </a:rPr>
              <a:t>: De 8 capas (AlexNet) a +100 capas (ResNet/DenseNet).</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i="1" lang="es-419" sz="1600">
                <a:solidFill>
                  <a:schemeClr val="lt1"/>
                </a:solidFill>
              </a:rPr>
              <a:t>Problema:</a:t>
            </a:r>
            <a:r>
              <a:rPr lang="es-419" sz="1600">
                <a:solidFill>
                  <a:schemeClr val="lt1"/>
                </a:solidFill>
              </a:rPr>
              <a:t> La complejidad arquitectural supera la intuición humana. El diseño se vuelve "prueba y error" costoso.</a:t>
            </a:r>
            <a:endParaRPr sz="1600">
              <a:solidFill>
                <a:schemeClr val="lt1"/>
              </a:solidFill>
            </a:endParaRPr>
          </a:p>
          <a:p>
            <a:pPr indent="0" lvl="0" marL="0" rtl="0" algn="l">
              <a:lnSpc>
                <a:spcPct val="115000"/>
              </a:lnSpc>
              <a:spcBef>
                <a:spcPts val="1200"/>
              </a:spcBef>
              <a:spcAft>
                <a:spcPts val="0"/>
              </a:spcAft>
              <a:buNone/>
            </a:pPr>
            <a:r>
              <a:t/>
            </a:r>
            <a:endParaRPr sz="1000"/>
          </a:p>
          <a:p>
            <a:pPr indent="0" lvl="0" marL="0" rtl="0" algn="l">
              <a:spcBef>
                <a:spcPts val="1200"/>
              </a:spcBef>
              <a:spcAft>
                <a:spcPts val="0"/>
              </a:spcAft>
              <a:buNone/>
            </a:pPr>
            <a:r>
              <a:t/>
            </a:r>
            <a:endParaRPr sz="1700">
              <a:solidFill>
                <a:schemeClr val="dk2"/>
              </a:solidFill>
              <a:latin typeface="Roboto"/>
              <a:ea typeface="Roboto"/>
              <a:cs typeface="Roboto"/>
              <a:sym typeface="Roboto"/>
            </a:endParaRPr>
          </a:p>
        </p:txBody>
      </p:sp>
      <p:pic>
        <p:nvPicPr>
          <p:cNvPr id="93" name="Google Shape;93;p14"/>
          <p:cNvPicPr preferRelativeResize="0"/>
          <p:nvPr/>
        </p:nvPicPr>
        <p:blipFill>
          <a:blip r:embed="rId3">
            <a:alphaModFix/>
          </a:blip>
          <a:stretch>
            <a:fillRect/>
          </a:stretch>
        </p:blipFill>
        <p:spPr>
          <a:xfrm>
            <a:off x="6623192" y="1001717"/>
            <a:ext cx="2315876" cy="1668425"/>
          </a:xfrm>
          <a:prstGeom prst="rect">
            <a:avLst/>
          </a:prstGeom>
          <a:noFill/>
          <a:ln>
            <a:noFill/>
          </a:ln>
        </p:spPr>
      </p:pic>
      <p:sp>
        <p:nvSpPr>
          <p:cNvPr id="94" name="Google Shape;94;p14"/>
          <p:cNvSpPr txBox="1"/>
          <p:nvPr/>
        </p:nvSpPr>
        <p:spPr>
          <a:xfrm>
            <a:off x="568100" y="2938175"/>
            <a:ext cx="8326800" cy="356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600">
                <a:solidFill>
                  <a:schemeClr val="lt1"/>
                </a:solidFill>
              </a:rPr>
              <a:t>El Foco de esta Monografía</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b="1" lang="es-419" sz="1600">
                <a:solidFill>
                  <a:schemeClr val="lt1"/>
                </a:solidFill>
              </a:rPr>
              <a:t>Validación Empírica:</a:t>
            </a:r>
            <a:r>
              <a:rPr lang="es-419" sz="1600">
                <a:solidFill>
                  <a:schemeClr val="lt1"/>
                </a:solidFill>
              </a:rPr>
              <a:t> ¿Es reproducible este hito científico?</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b="1" lang="es-419" sz="1600">
                <a:solidFill>
                  <a:schemeClr val="lt1"/>
                </a:solidFill>
              </a:rPr>
              <a:t>Democratización:</a:t>
            </a:r>
            <a:r>
              <a:rPr lang="es-419" sz="1600">
                <a:solidFill>
                  <a:schemeClr val="lt1"/>
                </a:solidFill>
              </a:rPr>
              <a:t> ¿Es viable aplicar estos métodos sin las 800 GPUs de Google?</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b="1" lang="es-419" sz="1600">
                <a:solidFill>
                  <a:schemeClr val="lt1"/>
                </a:solidFill>
              </a:rPr>
              <a:t>Caja Negra:</a:t>
            </a:r>
            <a:r>
              <a:rPr lang="es-419" sz="1600">
                <a:solidFill>
                  <a:schemeClr val="lt1"/>
                </a:solidFill>
              </a:rPr>
              <a:t> Reconstruir la arquitectura </a:t>
            </a:r>
            <a:r>
              <a:rPr i="1" lang="es-419" sz="1600">
                <a:solidFill>
                  <a:schemeClr val="lt1"/>
                </a:solidFill>
              </a:rPr>
              <a:t>NASCNN15</a:t>
            </a:r>
            <a:r>
              <a:rPr lang="es-419" sz="1600">
                <a:solidFill>
                  <a:schemeClr val="lt1"/>
                </a:solidFill>
              </a:rPr>
              <a:t> sin código fuente disponible.</a:t>
            </a:r>
            <a:endParaRPr sz="1600">
              <a:solidFill>
                <a:schemeClr val="lt1"/>
              </a:solidFill>
            </a:endParaRPr>
          </a:p>
          <a:p>
            <a:pPr indent="0" lvl="0" marL="0" rtl="0" algn="l">
              <a:lnSpc>
                <a:spcPct val="115000"/>
              </a:lnSpc>
              <a:spcBef>
                <a:spcPts val="1200"/>
              </a:spcBef>
              <a:spcAft>
                <a:spcPts val="0"/>
              </a:spcAft>
              <a:buNone/>
            </a:pPr>
            <a:r>
              <a:t/>
            </a:r>
            <a:endParaRPr sz="1000"/>
          </a:p>
          <a:p>
            <a:pPr indent="0" lvl="0" marL="0" rtl="0" algn="l">
              <a:spcBef>
                <a:spcPts val="1200"/>
              </a:spcBef>
              <a:spcAft>
                <a:spcPts val="0"/>
              </a:spcAft>
              <a:buNone/>
            </a:pPr>
            <a:r>
              <a:t/>
            </a:r>
            <a:endParaRPr sz="17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El Método: NAS con RL</a:t>
            </a:r>
            <a:endParaRPr/>
          </a:p>
        </p:txBody>
      </p:sp>
      <p:sp>
        <p:nvSpPr>
          <p:cNvPr id="100" name="Google Shape;100;p15"/>
          <p:cNvSpPr txBox="1"/>
          <p:nvPr/>
        </p:nvSpPr>
        <p:spPr>
          <a:xfrm>
            <a:off x="568100" y="1164650"/>
            <a:ext cx="4477500" cy="3564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lt1"/>
              </a:buClr>
              <a:buSzPts val="1500"/>
              <a:buAutoNum type="arabicPeriod"/>
            </a:pPr>
            <a:r>
              <a:rPr lang="es-419" sz="1500">
                <a:solidFill>
                  <a:schemeClr val="lt1"/>
                </a:solidFill>
              </a:rPr>
              <a:t>Tenemos un </a:t>
            </a:r>
            <a:r>
              <a:rPr b="1" lang="es-419" sz="1500">
                <a:solidFill>
                  <a:schemeClr val="lt1"/>
                </a:solidFill>
              </a:rPr>
              <a:t>Controlador</a:t>
            </a:r>
            <a:r>
              <a:rPr lang="es-419" sz="1500">
                <a:solidFill>
                  <a:schemeClr val="lt1"/>
                </a:solidFill>
              </a:rPr>
              <a:t> (una RNN) que propone una arquitectura.</a:t>
            </a: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lang="es-419" sz="1500">
                <a:solidFill>
                  <a:schemeClr val="lt1"/>
                </a:solidFill>
              </a:rPr>
              <a:t>Construimos y entrenamos esa </a:t>
            </a:r>
            <a:r>
              <a:rPr b="1" lang="es-419" sz="1500">
                <a:solidFill>
                  <a:schemeClr val="lt1"/>
                </a:solidFill>
              </a:rPr>
              <a:t>'Red Hija'</a:t>
            </a:r>
            <a:r>
              <a:rPr lang="es-419" sz="1500">
                <a:solidFill>
                  <a:schemeClr val="lt1"/>
                </a:solidFill>
              </a:rPr>
              <a:t>.</a:t>
            </a: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lang="es-419" sz="1500">
                <a:solidFill>
                  <a:schemeClr val="lt1"/>
                </a:solidFill>
              </a:rPr>
              <a:t>Su precisión en validación se convierte en la </a:t>
            </a:r>
            <a:r>
              <a:rPr b="1" lang="es-419" sz="1500">
                <a:solidFill>
                  <a:schemeClr val="lt1"/>
                </a:solidFill>
              </a:rPr>
              <a:t>recompensa</a:t>
            </a:r>
            <a:r>
              <a:rPr lang="es-419" sz="1500">
                <a:solidFill>
                  <a:schemeClr val="lt1"/>
                </a:solidFill>
              </a:rPr>
              <a:t>.</a:t>
            </a: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lang="es-419" sz="1500">
                <a:solidFill>
                  <a:schemeClr val="lt1"/>
                </a:solidFill>
              </a:rPr>
              <a:t>El controlador aprende qué diseños funcionan y cuáles no.</a:t>
            </a:r>
            <a:endParaRPr sz="2100">
              <a:solidFill>
                <a:schemeClr val="lt1"/>
              </a:solidFill>
            </a:endParaRPr>
          </a:p>
          <a:p>
            <a:pPr indent="0" lvl="0" marL="0" rtl="0" algn="l">
              <a:lnSpc>
                <a:spcPct val="115000"/>
              </a:lnSpc>
              <a:spcBef>
                <a:spcPts val="1200"/>
              </a:spcBef>
              <a:spcAft>
                <a:spcPts val="0"/>
              </a:spcAft>
              <a:buNone/>
            </a:pPr>
            <a:r>
              <a:t/>
            </a:r>
            <a:endParaRPr sz="1500">
              <a:solidFill>
                <a:schemeClr val="lt1"/>
              </a:solidFill>
            </a:endParaRPr>
          </a:p>
          <a:p>
            <a:pPr indent="0" lvl="0" marL="0" rtl="0" algn="l">
              <a:spcBef>
                <a:spcPts val="1200"/>
              </a:spcBef>
              <a:spcAft>
                <a:spcPts val="0"/>
              </a:spcAft>
              <a:buNone/>
            </a:pPr>
            <a:r>
              <a:t/>
            </a:r>
            <a:endParaRPr sz="2200">
              <a:solidFill>
                <a:schemeClr val="lt1"/>
              </a:solidFill>
              <a:latin typeface="Roboto"/>
              <a:ea typeface="Roboto"/>
              <a:cs typeface="Roboto"/>
              <a:sym typeface="Roboto"/>
            </a:endParaRPr>
          </a:p>
        </p:txBody>
      </p:sp>
      <p:pic>
        <p:nvPicPr>
          <p:cNvPr id="101" name="Google Shape;101;p15"/>
          <p:cNvPicPr preferRelativeResize="0"/>
          <p:nvPr/>
        </p:nvPicPr>
        <p:blipFill>
          <a:blip r:embed="rId3">
            <a:alphaModFix/>
          </a:blip>
          <a:stretch>
            <a:fillRect/>
          </a:stretch>
        </p:blipFill>
        <p:spPr>
          <a:xfrm>
            <a:off x="5045450" y="925731"/>
            <a:ext cx="3852299" cy="4099450"/>
          </a:xfrm>
          <a:prstGeom prst="rect">
            <a:avLst/>
          </a:prstGeom>
          <a:noFill/>
          <a:ln>
            <a:noFill/>
          </a:ln>
        </p:spPr>
      </p:pic>
      <p:pic>
        <p:nvPicPr>
          <p:cNvPr id="102" name="Google Shape;102;p15"/>
          <p:cNvPicPr preferRelativeResize="0"/>
          <p:nvPr/>
        </p:nvPicPr>
        <p:blipFill>
          <a:blip r:embed="rId4">
            <a:alphaModFix/>
          </a:blip>
          <a:stretch>
            <a:fillRect/>
          </a:stretch>
        </p:blipFill>
        <p:spPr>
          <a:xfrm>
            <a:off x="321899" y="3379400"/>
            <a:ext cx="4723550" cy="16428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El Cerebro: Controlador LSTM</a:t>
            </a:r>
            <a:endParaRPr/>
          </a:p>
        </p:txBody>
      </p:sp>
      <p:sp>
        <p:nvSpPr>
          <p:cNvPr id="108" name="Google Shape;108;p16"/>
          <p:cNvSpPr txBox="1"/>
          <p:nvPr/>
        </p:nvSpPr>
        <p:spPr>
          <a:xfrm>
            <a:off x="568100" y="1111125"/>
            <a:ext cx="7637700" cy="170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419">
                <a:solidFill>
                  <a:schemeClr val="lt1"/>
                </a:solidFill>
              </a:rPr>
              <a:t>El Rol del Controlador (LSTM)</a:t>
            </a:r>
            <a:endParaRPr b="1">
              <a:solidFill>
                <a:schemeClr val="lt1"/>
              </a:solidFill>
            </a:endParaRPr>
          </a:p>
          <a:p>
            <a:pPr indent="-317500" lvl="0" marL="457200" rtl="0" algn="l">
              <a:lnSpc>
                <a:spcPct val="115000"/>
              </a:lnSpc>
              <a:spcBef>
                <a:spcPts val="1200"/>
              </a:spcBef>
              <a:spcAft>
                <a:spcPts val="0"/>
              </a:spcAft>
              <a:buClr>
                <a:schemeClr val="lt1"/>
              </a:buClr>
              <a:buSzPts val="1400"/>
              <a:buChar char="●"/>
            </a:pPr>
            <a:r>
              <a:rPr lang="es-419">
                <a:solidFill>
                  <a:schemeClr val="lt1"/>
                </a:solidFill>
              </a:rPr>
              <a:t>Funciona como un arquitecto escribiendo planos capa por capa.</a:t>
            </a:r>
            <a:endParaRPr>
              <a:solidFill>
                <a:schemeClr val="lt1"/>
              </a:solidFill>
            </a:endParaRPr>
          </a:p>
          <a:p>
            <a:pPr indent="0" lvl="0" marL="0" rtl="0" algn="l">
              <a:lnSpc>
                <a:spcPct val="115000"/>
              </a:lnSpc>
              <a:spcBef>
                <a:spcPts val="1200"/>
              </a:spcBef>
              <a:spcAft>
                <a:spcPts val="0"/>
              </a:spcAft>
              <a:buNone/>
            </a:pPr>
            <a:r>
              <a:rPr b="1" lang="es-419">
                <a:solidFill>
                  <a:schemeClr val="lt1"/>
                </a:solidFill>
              </a:rPr>
              <a:t>Generación del "ADN" (Acciones Discretas)</a:t>
            </a:r>
            <a:endParaRPr b="1">
              <a:solidFill>
                <a:schemeClr val="lt1"/>
              </a:solidFill>
            </a:endParaRPr>
          </a:p>
          <a:p>
            <a:pPr indent="-317500" lvl="0" marL="457200" rtl="0" algn="l">
              <a:lnSpc>
                <a:spcPct val="115000"/>
              </a:lnSpc>
              <a:spcBef>
                <a:spcPts val="1200"/>
              </a:spcBef>
              <a:spcAft>
                <a:spcPts val="0"/>
              </a:spcAft>
              <a:buClr>
                <a:schemeClr val="lt1"/>
              </a:buClr>
              <a:buSzPts val="1400"/>
              <a:buChar char="●"/>
            </a:pPr>
            <a:r>
              <a:rPr lang="es-419">
                <a:solidFill>
                  <a:schemeClr val="lt1"/>
                </a:solidFill>
              </a:rPr>
              <a:t>En cada paso </a:t>
            </a:r>
            <a:r>
              <a:rPr i="1" lang="es-419">
                <a:solidFill>
                  <a:schemeClr val="lt1"/>
                </a:solidFill>
              </a:rPr>
              <a:t>t</a:t>
            </a:r>
            <a:r>
              <a:rPr lang="es-419">
                <a:solidFill>
                  <a:schemeClr val="lt1"/>
                </a:solidFill>
              </a:rPr>
              <a:t>, elige una configuración específica mediante muestreo probabilístico .</a:t>
            </a:r>
            <a:br>
              <a:rPr lang="es-419">
                <a:solidFill>
                  <a:schemeClr val="lt1"/>
                </a:solidFill>
              </a:rPr>
            </a:br>
            <a:r>
              <a:rPr lang="es-419">
                <a:solidFill>
                  <a:schemeClr val="lt1"/>
                </a:solidFill>
              </a:rPr>
              <a:t>Decisiones: Tamaño de Kernel (1, 3, 5...), Número de Filtros, </a:t>
            </a:r>
            <a:r>
              <a:rPr lang="es-419">
                <a:solidFill>
                  <a:schemeClr val="lt1"/>
                </a:solidFill>
              </a:rPr>
              <a:t>Stride</a:t>
            </a:r>
            <a:r>
              <a:rPr lang="es-419">
                <a:solidFill>
                  <a:schemeClr val="lt1"/>
                </a:solidFill>
              </a:rPr>
              <a:t>.</a:t>
            </a:r>
            <a:endParaRPr>
              <a:solidFill>
                <a:schemeClr val="lt1"/>
              </a:solidFill>
            </a:endParaRPr>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09" name="Google Shape;109;p16"/>
          <p:cNvPicPr preferRelativeResize="0"/>
          <p:nvPr/>
        </p:nvPicPr>
        <p:blipFill>
          <a:blip r:embed="rId3">
            <a:alphaModFix/>
          </a:blip>
          <a:stretch>
            <a:fillRect/>
          </a:stretch>
        </p:blipFill>
        <p:spPr>
          <a:xfrm>
            <a:off x="3114675" y="2892513"/>
            <a:ext cx="6029325" cy="2295525"/>
          </a:xfrm>
          <a:prstGeom prst="rect">
            <a:avLst/>
          </a:prstGeom>
          <a:noFill/>
          <a:ln>
            <a:noFill/>
          </a:ln>
        </p:spPr>
      </p:pic>
      <p:pic>
        <p:nvPicPr>
          <p:cNvPr id="110" name="Google Shape;110;p16"/>
          <p:cNvPicPr preferRelativeResize="0"/>
          <p:nvPr/>
        </p:nvPicPr>
        <p:blipFill>
          <a:blip r:embed="rId4">
            <a:alphaModFix/>
          </a:blip>
          <a:stretch>
            <a:fillRect/>
          </a:stretch>
        </p:blipFill>
        <p:spPr>
          <a:xfrm>
            <a:off x="7802825" y="2344450"/>
            <a:ext cx="655675" cy="227300"/>
          </a:xfrm>
          <a:prstGeom prst="rect">
            <a:avLst/>
          </a:prstGeom>
          <a:noFill/>
          <a:ln>
            <a:noFill/>
          </a:ln>
        </p:spPr>
      </p:pic>
      <p:sp>
        <p:nvSpPr>
          <p:cNvPr id="111" name="Google Shape;111;p16"/>
          <p:cNvSpPr txBox="1"/>
          <p:nvPr/>
        </p:nvSpPr>
        <p:spPr>
          <a:xfrm>
            <a:off x="568100" y="3048450"/>
            <a:ext cx="2488500" cy="21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419">
                <a:solidFill>
                  <a:schemeClr val="lt1"/>
                </a:solidFill>
              </a:rPr>
              <a:t>Aprendizaje (REINFORCE)</a:t>
            </a:r>
            <a:endParaRPr b="1">
              <a:solidFill>
                <a:schemeClr val="lt1"/>
              </a:solidFill>
            </a:endParaRPr>
          </a:p>
          <a:p>
            <a:pPr indent="-317500" lvl="0" marL="457200" rtl="0" algn="l">
              <a:lnSpc>
                <a:spcPct val="115000"/>
              </a:lnSpc>
              <a:spcBef>
                <a:spcPts val="1200"/>
              </a:spcBef>
              <a:spcAft>
                <a:spcPts val="0"/>
              </a:spcAft>
              <a:buClr>
                <a:schemeClr val="lt1"/>
              </a:buClr>
              <a:buSzPts val="1400"/>
              <a:buChar char="●"/>
            </a:pPr>
            <a:r>
              <a:rPr lang="es-419">
                <a:solidFill>
                  <a:schemeClr val="lt1"/>
                </a:solidFill>
              </a:rPr>
              <a:t>Si la red hija funciona bien (alta Accuracy), el controlador aumenta la probabilidad de repetir esa secuencia de decisiones.</a:t>
            </a:r>
            <a:endParaRPr b="1">
              <a:solidFill>
                <a:schemeClr val="lt1"/>
              </a:solidFill>
            </a:endParaRPr>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Estrategia Experimental</a:t>
            </a:r>
            <a:endParaRPr/>
          </a:p>
        </p:txBody>
      </p:sp>
      <p:sp>
        <p:nvSpPr>
          <p:cNvPr id="117" name="Google Shape;117;p17"/>
          <p:cNvSpPr txBox="1"/>
          <p:nvPr/>
        </p:nvSpPr>
        <p:spPr>
          <a:xfrm>
            <a:off x="734775" y="1164650"/>
            <a:ext cx="7637700" cy="356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300">
                <a:solidFill>
                  <a:schemeClr val="lt1"/>
                </a:solidFill>
              </a:rPr>
              <a:t>El Desafío Computacional</a:t>
            </a:r>
            <a:r>
              <a:rPr lang="es-419" sz="1300">
                <a:solidFill>
                  <a:schemeClr val="lt1"/>
                </a:solidFill>
              </a:rPr>
              <a:t>: Paper original: Cluster de 800 GPUs vs. Hardware modesto.</a:t>
            </a:r>
            <a:endParaRPr sz="1300">
              <a:solidFill>
                <a:schemeClr val="lt1"/>
              </a:solidFill>
            </a:endParaRPr>
          </a:p>
          <a:p>
            <a:pPr indent="-311150" lvl="0" marL="457200" rtl="0" algn="l">
              <a:lnSpc>
                <a:spcPct val="115000"/>
              </a:lnSpc>
              <a:spcBef>
                <a:spcPts val="1200"/>
              </a:spcBef>
              <a:spcAft>
                <a:spcPts val="0"/>
              </a:spcAft>
              <a:buClr>
                <a:schemeClr val="lt1"/>
              </a:buClr>
              <a:buSzPts val="1300"/>
              <a:buChar char="●"/>
            </a:pPr>
            <a:r>
              <a:rPr lang="es-419" sz="1300">
                <a:solidFill>
                  <a:schemeClr val="lt1"/>
                </a:solidFill>
              </a:rPr>
              <a:t>Imposibilidad de realizar la búsqueda completa (Search Space) en tiempos razonables.</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2. Fase A: Validación del AGENTE. </a:t>
            </a:r>
            <a:r>
              <a:rPr b="1" lang="es-419" sz="1300">
                <a:solidFill>
                  <a:schemeClr val="lt1"/>
                </a:solidFill>
              </a:rPr>
              <a:t>Implementación</a:t>
            </a:r>
            <a:r>
              <a:rPr b="1" lang="es-419" sz="1300">
                <a:solidFill>
                  <a:schemeClr val="lt1"/>
                </a:solidFill>
              </a:rPr>
              <a:t>: ‘demo’</a:t>
            </a:r>
            <a:endParaRPr b="1" sz="1300">
              <a:solidFill>
                <a:schemeClr val="lt1"/>
              </a:solidFill>
            </a:endParaRPr>
          </a:p>
          <a:p>
            <a:pPr indent="-311150" lvl="0" marL="457200" rtl="0" algn="l">
              <a:lnSpc>
                <a:spcPct val="115000"/>
              </a:lnSpc>
              <a:spcBef>
                <a:spcPts val="1200"/>
              </a:spcBef>
              <a:spcAft>
                <a:spcPts val="0"/>
              </a:spcAft>
              <a:buClr>
                <a:schemeClr val="lt1"/>
              </a:buClr>
              <a:buSzPts val="1300"/>
              <a:buChar char="●"/>
            </a:pPr>
            <a:r>
              <a:rPr b="1" lang="es-419" sz="1300">
                <a:solidFill>
                  <a:schemeClr val="lt1"/>
                </a:solidFill>
              </a:rPr>
              <a:t>Objetivo:</a:t>
            </a:r>
            <a:r>
              <a:rPr lang="es-419" sz="1300">
                <a:solidFill>
                  <a:schemeClr val="lt1"/>
                </a:solidFill>
              </a:rPr>
              <a:t> ¿Aprende el controlador? </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b="1" lang="es-419" sz="1300">
                <a:solidFill>
                  <a:schemeClr val="lt1"/>
                </a:solidFill>
              </a:rPr>
              <a:t>Escala:</a:t>
            </a:r>
            <a:r>
              <a:rPr lang="es-419" sz="1300">
                <a:solidFill>
                  <a:schemeClr val="lt1"/>
                </a:solidFill>
              </a:rPr>
              <a:t> Búsqueda acotada a 160 arquitecturas (vs 12,800).</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b="1" lang="es-419" sz="1300">
                <a:solidFill>
                  <a:schemeClr val="lt1"/>
                </a:solidFill>
              </a:rPr>
              <a:t>Foco:</a:t>
            </a:r>
            <a:r>
              <a:rPr lang="es-419" sz="1300">
                <a:solidFill>
                  <a:schemeClr val="lt1"/>
                </a:solidFill>
              </a:rPr>
              <a:t> Observar la </a:t>
            </a:r>
            <a:r>
              <a:rPr i="1" lang="es-419" sz="1300">
                <a:solidFill>
                  <a:schemeClr val="lt1"/>
                </a:solidFill>
              </a:rPr>
              <a:t>pendiente</a:t>
            </a:r>
            <a:r>
              <a:rPr lang="es-419" sz="1300">
                <a:solidFill>
                  <a:schemeClr val="lt1"/>
                </a:solidFill>
              </a:rPr>
              <a:t> de mejora de la recompensa.</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3. Fase B: Validación de la ARQUITECTURA (NASCNN15)</a:t>
            </a:r>
            <a:endParaRPr b="1" sz="1300">
              <a:solidFill>
                <a:schemeClr val="lt1"/>
              </a:solidFill>
            </a:endParaRPr>
          </a:p>
          <a:p>
            <a:pPr indent="-311150" lvl="0" marL="457200" rtl="0" algn="l">
              <a:lnSpc>
                <a:spcPct val="115000"/>
              </a:lnSpc>
              <a:spcBef>
                <a:spcPts val="1200"/>
              </a:spcBef>
              <a:spcAft>
                <a:spcPts val="0"/>
              </a:spcAft>
              <a:buClr>
                <a:schemeClr val="lt1"/>
              </a:buClr>
              <a:buSzPts val="1300"/>
              <a:buChar char="●"/>
            </a:pPr>
            <a:r>
              <a:rPr b="1" lang="es-419" sz="1300">
                <a:solidFill>
                  <a:schemeClr val="lt1"/>
                </a:solidFill>
              </a:rPr>
              <a:t>Objetivo:</a:t>
            </a:r>
            <a:r>
              <a:rPr lang="es-419" sz="1300">
                <a:solidFill>
                  <a:schemeClr val="lt1"/>
                </a:solidFill>
              </a:rPr>
              <a:t> ¿Es la red resultante realmente competitiva? </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b="1" lang="es-419" sz="1300">
                <a:solidFill>
                  <a:schemeClr val="lt1"/>
                </a:solidFill>
              </a:rPr>
              <a:t>Método:</a:t>
            </a:r>
            <a:r>
              <a:rPr lang="es-419" sz="1300">
                <a:solidFill>
                  <a:schemeClr val="lt1"/>
                </a:solidFill>
              </a:rPr>
              <a:t> Ingeniería inversa del diagrama original y entrenamiento desde cero (Stand-alone training).</a:t>
            </a:r>
            <a:endParaRPr sz="1300">
              <a:solidFill>
                <a:schemeClr val="lt1"/>
              </a:solidFill>
            </a:endParaRPr>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18" name="Google Shape;118;p17"/>
          <p:cNvPicPr preferRelativeResize="0"/>
          <p:nvPr/>
        </p:nvPicPr>
        <p:blipFill rotWithShape="1">
          <a:blip r:embed="rId3">
            <a:alphaModFix/>
          </a:blip>
          <a:srcRect b="1697" l="-4969" r="2719" t="-3946"/>
          <a:stretch/>
        </p:blipFill>
        <p:spPr>
          <a:xfrm>
            <a:off x="6207750" y="1390600"/>
            <a:ext cx="2678650" cy="2678650"/>
          </a:xfrm>
          <a:prstGeom prst="rect">
            <a:avLst/>
          </a:prstGeom>
          <a:noFill/>
          <a:ln>
            <a:noFill/>
          </a:ln>
        </p:spPr>
      </p:pic>
      <p:sp>
        <p:nvSpPr>
          <p:cNvPr id="119" name="Google Shape;119;p17"/>
          <p:cNvSpPr txBox="1"/>
          <p:nvPr/>
        </p:nvSpPr>
        <p:spPr>
          <a:xfrm>
            <a:off x="6141925" y="2299850"/>
            <a:ext cx="12303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2700">
                <a:solidFill>
                  <a:srgbClr val="FF0000"/>
                </a:solidFill>
              </a:rPr>
              <a:t>1 GPU</a:t>
            </a:r>
            <a:endParaRPr b="1" sz="3400">
              <a:solidFill>
                <a:srgbClr val="FF0000"/>
              </a:solidFill>
              <a:latin typeface="Roboto"/>
              <a:ea typeface="Roboto"/>
              <a:cs typeface="Roboto"/>
              <a:sym typeface="Roboto"/>
            </a:endParaRPr>
          </a:p>
        </p:txBody>
      </p:sp>
      <p:sp>
        <p:nvSpPr>
          <p:cNvPr id="120" name="Google Shape;120;p17"/>
          <p:cNvSpPr txBox="1"/>
          <p:nvPr/>
        </p:nvSpPr>
        <p:spPr>
          <a:xfrm>
            <a:off x="7755375" y="2442500"/>
            <a:ext cx="15420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a:solidFill>
                  <a:srgbClr val="FF0000"/>
                </a:solidFill>
              </a:rPr>
              <a:t>Google</a:t>
            </a:r>
            <a:endParaRPr b="1" sz="1800">
              <a:solidFill>
                <a:srgbClr val="FF0000"/>
              </a:solidFill>
            </a:endParaRPr>
          </a:p>
          <a:p>
            <a:pPr indent="0" lvl="0" marL="0" rtl="0" algn="ctr">
              <a:spcBef>
                <a:spcPts val="0"/>
              </a:spcBef>
              <a:spcAft>
                <a:spcPts val="0"/>
              </a:spcAft>
              <a:buNone/>
            </a:pPr>
            <a:r>
              <a:rPr b="1" lang="es-419" sz="1800">
                <a:solidFill>
                  <a:srgbClr val="FF0000"/>
                </a:solidFill>
              </a:rPr>
              <a:t>800 GPUs</a:t>
            </a:r>
            <a:endParaRPr b="1" sz="2500">
              <a:solidFill>
                <a:srgbClr val="FF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Fase A - La Búsqueda ‘demo’</a:t>
            </a:r>
            <a:endParaRPr/>
          </a:p>
        </p:txBody>
      </p:sp>
      <p:sp>
        <p:nvSpPr>
          <p:cNvPr id="126" name="Google Shape;126;p18"/>
          <p:cNvSpPr txBox="1"/>
          <p:nvPr/>
        </p:nvSpPr>
        <p:spPr>
          <a:xfrm>
            <a:off x="734775" y="1164650"/>
            <a:ext cx="7637700" cy="140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300">
                <a:solidFill>
                  <a:schemeClr val="lt1"/>
                </a:solidFill>
              </a:rPr>
              <a:t>Dimensiones de la Búsqueda</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Total Evaluado:</a:t>
            </a:r>
            <a:r>
              <a:rPr lang="es-419" sz="1300">
                <a:solidFill>
                  <a:schemeClr val="lt1"/>
                </a:solidFill>
              </a:rPr>
              <a:t> 160 Arquitecturas únicas. * </a:t>
            </a:r>
            <a:r>
              <a:rPr b="1" lang="es-419" sz="1300">
                <a:solidFill>
                  <a:schemeClr val="lt1"/>
                </a:solidFill>
              </a:rPr>
              <a:t>Ciclos:</a:t>
            </a:r>
            <a:r>
              <a:rPr lang="es-419" sz="1300">
                <a:solidFill>
                  <a:schemeClr val="lt1"/>
                </a:solidFill>
              </a:rPr>
              <a:t> 10 Episodios (Batch size = 16 redes por episodio).</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Adaptaciones de Viabilidad ("Trade-offs")</a:t>
            </a:r>
            <a:r>
              <a:rPr lang="es-419" sz="1300">
                <a:solidFill>
                  <a:schemeClr val="lt1"/>
                </a:solidFill>
              </a:rPr>
              <a:t> </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Entrenamiento Redes Hijas:</a:t>
            </a:r>
            <a:r>
              <a:rPr lang="es-419" sz="1300">
                <a:solidFill>
                  <a:schemeClr val="lt1"/>
                </a:solidFill>
              </a:rPr>
              <a:t> Reducido a 20 épocas (vs 50 paper) para acelerar feedback.</a:t>
            </a:r>
            <a:endParaRPr sz="1300">
              <a:solidFill>
                <a:schemeClr val="lt1"/>
              </a:solidFill>
            </a:endParaRPr>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27" name="Google Shape;127;p18"/>
          <p:cNvPicPr preferRelativeResize="0"/>
          <p:nvPr/>
        </p:nvPicPr>
        <p:blipFill>
          <a:blip r:embed="rId3">
            <a:alphaModFix/>
          </a:blip>
          <a:stretch>
            <a:fillRect/>
          </a:stretch>
        </p:blipFill>
        <p:spPr>
          <a:xfrm>
            <a:off x="5063275" y="2845125"/>
            <a:ext cx="4080725" cy="2270775"/>
          </a:xfrm>
          <a:prstGeom prst="rect">
            <a:avLst/>
          </a:prstGeom>
          <a:noFill/>
          <a:ln>
            <a:noFill/>
          </a:ln>
        </p:spPr>
      </p:pic>
      <p:sp>
        <p:nvSpPr>
          <p:cNvPr id="128" name="Google Shape;128;p18"/>
          <p:cNvSpPr txBox="1"/>
          <p:nvPr/>
        </p:nvSpPr>
        <p:spPr>
          <a:xfrm>
            <a:off x="734775" y="2844875"/>
            <a:ext cx="4328400" cy="227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300">
                <a:solidFill>
                  <a:schemeClr val="lt1"/>
                </a:solidFill>
              </a:rPr>
              <a:t>Layer Schedule (Profundidad Progresiva):</a:t>
            </a:r>
            <a:endParaRPr b="1" sz="1300">
              <a:solidFill>
                <a:schemeClr val="lt1"/>
              </a:solidFill>
            </a:endParaRPr>
          </a:p>
          <a:p>
            <a:pPr indent="-311150" lvl="0" marL="457200" rtl="0" algn="l">
              <a:lnSpc>
                <a:spcPct val="115000"/>
              </a:lnSpc>
              <a:spcBef>
                <a:spcPts val="1200"/>
              </a:spcBef>
              <a:spcAft>
                <a:spcPts val="0"/>
              </a:spcAft>
              <a:buClr>
                <a:schemeClr val="lt1"/>
              </a:buClr>
              <a:buSzPts val="1300"/>
              <a:buChar char="●"/>
            </a:pPr>
            <a:r>
              <a:rPr lang="es-419" sz="1300">
                <a:solidFill>
                  <a:schemeClr val="lt1"/>
                </a:solidFill>
              </a:rPr>
              <a:t>Inicio: Redes de 6 capas.</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es-419" sz="1300">
                <a:solidFill>
                  <a:schemeClr val="lt1"/>
                </a:solidFill>
              </a:rPr>
              <a:t>Incremento: Aumenta la profundidad cada 16 arquitecturas (1 episodio).</a:t>
            </a:r>
            <a:endParaRPr sz="1300">
              <a:solidFill>
                <a:schemeClr val="lt1"/>
              </a:solidFill>
            </a:endParaRPr>
          </a:p>
          <a:p>
            <a:pPr indent="0" lvl="0" marL="0" rtl="0" algn="l">
              <a:lnSpc>
                <a:spcPct val="115000"/>
              </a:lnSpc>
              <a:spcBef>
                <a:spcPts val="1200"/>
              </a:spcBef>
              <a:spcAft>
                <a:spcPts val="0"/>
              </a:spcAft>
              <a:buNone/>
            </a:pPr>
            <a:r>
              <a:rPr b="1" lang="es-419" sz="1300">
                <a:solidFill>
                  <a:schemeClr val="lt1"/>
                </a:solidFill>
              </a:rPr>
              <a:t>Resultado</a:t>
            </a:r>
            <a:r>
              <a:rPr lang="es-419" sz="1300">
                <a:solidFill>
                  <a:schemeClr val="lt1"/>
                </a:solidFill>
              </a:rPr>
              <a:t>: </a:t>
            </a:r>
            <a:r>
              <a:rPr lang="es-419" sz="1300">
                <a:solidFill>
                  <a:schemeClr val="lt1"/>
                </a:solidFill>
              </a:rPr>
              <a:t>Convergencia y máximo global alcanzado en </a:t>
            </a:r>
            <a:r>
              <a:rPr b="1" lang="es-419" sz="1300">
                <a:solidFill>
                  <a:schemeClr val="lt1"/>
                </a:solidFill>
              </a:rPr>
              <a:t>Episodio 7</a:t>
            </a:r>
            <a:endParaRPr b="1" sz="1300">
              <a:solidFill>
                <a:schemeClr val="lt1"/>
              </a:solidFill>
            </a:endParaRPr>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568100" y="162925"/>
            <a:ext cx="8222100" cy="881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Resultado Fase A</a:t>
            </a:r>
            <a:endParaRPr/>
          </a:p>
          <a:p>
            <a:pPr indent="0" lvl="0" marL="0" rtl="0" algn="l">
              <a:spcBef>
                <a:spcPts val="0"/>
              </a:spcBef>
              <a:spcAft>
                <a:spcPts val="0"/>
              </a:spcAft>
              <a:buNone/>
            </a:pPr>
            <a:r>
              <a:rPr lang="es-419"/>
              <a:t>Una Arquitectura "No Convencional"</a:t>
            </a:r>
            <a:endParaRPr/>
          </a:p>
        </p:txBody>
      </p:sp>
      <p:sp>
        <p:nvSpPr>
          <p:cNvPr id="134" name="Google Shape;134;p19"/>
          <p:cNvSpPr txBox="1"/>
          <p:nvPr/>
        </p:nvSpPr>
        <p:spPr>
          <a:xfrm>
            <a:off x="568100" y="1164625"/>
            <a:ext cx="8488200" cy="345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419" sz="1600">
                <a:solidFill>
                  <a:schemeClr val="lt1"/>
                </a:solidFill>
              </a:rPr>
              <a:t>"El Hallazgo (Episodio 7)</a:t>
            </a:r>
            <a:r>
              <a:rPr lang="es-419" sz="1600">
                <a:solidFill>
                  <a:schemeClr val="lt1"/>
                </a:solidFill>
              </a:rPr>
              <a:t> El controlador </a:t>
            </a:r>
            <a:r>
              <a:rPr lang="es-419" sz="1600">
                <a:solidFill>
                  <a:schemeClr val="lt1"/>
                </a:solidFill>
              </a:rPr>
              <a:t>encontró</a:t>
            </a:r>
            <a:r>
              <a:rPr lang="es-419" sz="1600">
                <a:solidFill>
                  <a:schemeClr val="lt1"/>
                </a:solidFill>
              </a:rPr>
              <a:t> una arquitectura de </a:t>
            </a:r>
            <a:r>
              <a:rPr b="1" lang="es-419" sz="1600">
                <a:solidFill>
                  <a:schemeClr val="lt1"/>
                </a:solidFill>
              </a:rPr>
              <a:t>13 capas</a:t>
            </a:r>
            <a:r>
              <a:rPr lang="es-419" sz="1600">
                <a:solidFill>
                  <a:schemeClr val="lt1"/>
                </a:solidFill>
              </a:rPr>
              <a:t>. </a:t>
            </a:r>
            <a:r>
              <a:rPr b="1" lang="es-419" sz="1600">
                <a:solidFill>
                  <a:schemeClr val="lt1"/>
                </a:solidFill>
              </a:rPr>
              <a:t>Rendimiento:</a:t>
            </a:r>
            <a:r>
              <a:rPr lang="es-419" sz="1600">
                <a:solidFill>
                  <a:schemeClr val="lt1"/>
                </a:solidFill>
              </a:rPr>
              <a:t> 60.46% de Accuracy en Validación (limitado por las 20 épocas de entrenamiento)</a:t>
            </a:r>
            <a:endParaRPr sz="1600">
              <a:solidFill>
                <a:schemeClr val="lt1"/>
              </a:solidFill>
            </a:endParaRPr>
          </a:p>
          <a:p>
            <a:pPr indent="0" lvl="0" marL="0" rtl="0" algn="l">
              <a:lnSpc>
                <a:spcPct val="115000"/>
              </a:lnSpc>
              <a:spcBef>
                <a:spcPts val="1200"/>
              </a:spcBef>
              <a:spcAft>
                <a:spcPts val="0"/>
              </a:spcAft>
              <a:buNone/>
            </a:pPr>
            <a:r>
              <a:rPr b="1" lang="es-419" sz="1600">
                <a:solidFill>
                  <a:schemeClr val="lt1"/>
                </a:solidFill>
              </a:rPr>
              <a:t>ADN" encontrado, con formato </a:t>
            </a:r>
            <a:r>
              <a:rPr b="1" i="1" lang="es-419" sz="1600">
                <a:solidFill>
                  <a:schemeClr val="lt1"/>
                </a:solidFill>
              </a:rPr>
              <a:t>[k, f, s, p]</a:t>
            </a:r>
            <a:r>
              <a:rPr b="1" lang="es-419" sz="1600">
                <a:solidFill>
                  <a:schemeClr val="lt1"/>
                </a:solidFill>
              </a:rPr>
              <a:t>.</a:t>
            </a:r>
            <a:endParaRPr b="1" sz="1600">
              <a:solidFill>
                <a:schemeClr val="lt1"/>
              </a:solidFill>
            </a:endParaRPr>
          </a:p>
          <a:p>
            <a:pPr indent="0" lvl="0" marL="0" rtl="0" algn="l">
              <a:lnSpc>
                <a:spcPct val="115000"/>
              </a:lnSpc>
              <a:spcBef>
                <a:spcPts val="1200"/>
              </a:spcBef>
              <a:spcAft>
                <a:spcPts val="0"/>
              </a:spcAft>
              <a:buNone/>
            </a:pPr>
            <a:r>
              <a:t/>
            </a:r>
            <a:endParaRPr sz="1300"/>
          </a:p>
          <a:p>
            <a:pPr indent="0" lvl="0" marL="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None/>
            </a:pPr>
            <a:r>
              <a:t/>
            </a:r>
            <a:endParaRPr sz="1300"/>
          </a:p>
          <a:p>
            <a:pPr indent="0" lvl="0" marL="0" rtl="0" algn="l">
              <a:spcBef>
                <a:spcPts val="1200"/>
              </a:spcBef>
              <a:spcAft>
                <a:spcPts val="0"/>
              </a:spcAft>
              <a:buNone/>
            </a:pPr>
            <a:r>
              <a:t/>
            </a:r>
            <a:endParaRPr sz="2000">
              <a:solidFill>
                <a:schemeClr val="dk2"/>
              </a:solidFill>
              <a:latin typeface="Roboto"/>
              <a:ea typeface="Roboto"/>
              <a:cs typeface="Roboto"/>
              <a:sym typeface="Roboto"/>
            </a:endParaRPr>
          </a:p>
        </p:txBody>
      </p:sp>
      <p:pic>
        <p:nvPicPr>
          <p:cNvPr id="135" name="Google Shape;135;p19"/>
          <p:cNvPicPr preferRelativeResize="0"/>
          <p:nvPr/>
        </p:nvPicPr>
        <p:blipFill>
          <a:blip r:embed="rId3">
            <a:alphaModFix/>
          </a:blip>
          <a:stretch>
            <a:fillRect/>
          </a:stretch>
        </p:blipFill>
        <p:spPr>
          <a:xfrm>
            <a:off x="734775" y="2499225"/>
            <a:ext cx="2138551" cy="2644275"/>
          </a:xfrm>
          <a:prstGeom prst="rect">
            <a:avLst/>
          </a:prstGeom>
          <a:noFill/>
          <a:ln>
            <a:noFill/>
          </a:ln>
        </p:spPr>
      </p:pic>
      <p:pic>
        <p:nvPicPr>
          <p:cNvPr id="136" name="Google Shape;136;p19"/>
          <p:cNvPicPr preferRelativeResize="0"/>
          <p:nvPr/>
        </p:nvPicPr>
        <p:blipFill>
          <a:blip r:embed="rId4">
            <a:alphaModFix/>
          </a:blip>
          <a:stretch>
            <a:fillRect/>
          </a:stretch>
        </p:blipFill>
        <p:spPr>
          <a:xfrm>
            <a:off x="3594778" y="2499225"/>
            <a:ext cx="5549221" cy="2644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568100" y="162922"/>
            <a:ext cx="8222100" cy="838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Fase 2 - NASCNN15 </a:t>
            </a:r>
            <a:endParaRPr/>
          </a:p>
          <a:p>
            <a:pPr indent="0" lvl="0" marL="0" rtl="0" algn="l">
              <a:spcBef>
                <a:spcPts val="0"/>
              </a:spcBef>
              <a:spcAft>
                <a:spcPts val="0"/>
              </a:spcAft>
              <a:buNone/>
            </a:pPr>
            <a:r>
              <a:rPr lang="es-419"/>
              <a:t>(Ingeniería Inversa)</a:t>
            </a:r>
            <a:endParaRPr/>
          </a:p>
        </p:txBody>
      </p:sp>
      <p:sp>
        <p:nvSpPr>
          <p:cNvPr id="142" name="Google Shape;142;p20"/>
          <p:cNvSpPr txBox="1"/>
          <p:nvPr/>
        </p:nvSpPr>
        <p:spPr>
          <a:xfrm>
            <a:off x="568100" y="1164650"/>
            <a:ext cx="5882400" cy="372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419" sz="1100">
                <a:solidFill>
                  <a:schemeClr val="lt1"/>
                </a:solidFill>
              </a:rPr>
              <a:t>El Desafío de Reproducibilidad</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s-419" sz="1100">
                <a:solidFill>
                  <a:schemeClr val="lt1"/>
                </a:solidFill>
              </a:rPr>
              <a:t>La arquitectura no fue publicada en código, solo como diagrama visual.</a:t>
            </a:r>
            <a:br>
              <a:rPr lang="es-419" sz="1100">
                <a:solidFill>
                  <a:schemeClr val="lt1"/>
                </a:solidFill>
              </a:rPr>
            </a:br>
            <a:r>
              <a:rPr lang="es-419" sz="1100">
                <a:solidFill>
                  <a:schemeClr val="lt1"/>
                </a:solidFill>
              </a:rPr>
              <a:t>Reconstrucción "forense" manual en PyTorch basada en la topología del paper.</a:t>
            </a:r>
            <a:endParaRPr sz="1100">
              <a:solidFill>
                <a:schemeClr val="lt1"/>
              </a:solidFill>
            </a:endParaRPr>
          </a:p>
          <a:p>
            <a:pPr indent="0" lvl="0" marL="0" rtl="0" algn="l">
              <a:lnSpc>
                <a:spcPct val="115000"/>
              </a:lnSpc>
              <a:spcBef>
                <a:spcPts val="1200"/>
              </a:spcBef>
              <a:spcAft>
                <a:spcPts val="0"/>
              </a:spcAft>
              <a:buNone/>
            </a:pPr>
            <a:r>
              <a:rPr b="1" lang="es-419" sz="1100">
                <a:solidFill>
                  <a:schemeClr val="lt1"/>
                </a:solidFill>
              </a:rPr>
              <a:t>Anatomía de NASCNN15</a:t>
            </a:r>
            <a:endParaRPr b="1" sz="1100">
              <a:solidFill>
                <a:schemeClr val="lt1"/>
              </a:solidFill>
            </a:endParaRPr>
          </a:p>
          <a:p>
            <a:pPr indent="0" lvl="0" marL="457200" rtl="0" algn="l">
              <a:lnSpc>
                <a:spcPct val="115000"/>
              </a:lnSpc>
              <a:spcBef>
                <a:spcPts val="1200"/>
              </a:spcBef>
              <a:spcAft>
                <a:spcPts val="0"/>
              </a:spcAft>
              <a:buNone/>
            </a:pPr>
            <a:r>
              <a:rPr b="1" lang="es-419" sz="1100">
                <a:solidFill>
                  <a:schemeClr val="lt1"/>
                </a:solidFill>
              </a:rPr>
              <a:t>Profundidad:</a:t>
            </a:r>
            <a:r>
              <a:rPr lang="es-419" sz="1100">
                <a:solidFill>
                  <a:schemeClr val="lt1"/>
                </a:solidFill>
              </a:rPr>
              <a:t> 15 capas convolucionales + Clasificación.</a:t>
            </a:r>
            <a:endParaRPr sz="1100">
              <a:solidFill>
                <a:schemeClr val="lt1"/>
              </a:solidFill>
            </a:endParaRPr>
          </a:p>
          <a:p>
            <a:pPr indent="0" lvl="0" marL="457200" rtl="0" algn="l">
              <a:lnSpc>
                <a:spcPct val="115000"/>
              </a:lnSpc>
              <a:spcBef>
                <a:spcPts val="1200"/>
              </a:spcBef>
              <a:spcAft>
                <a:spcPts val="0"/>
              </a:spcAft>
              <a:buNone/>
            </a:pPr>
            <a:r>
              <a:rPr lang="es-419" sz="1100">
                <a:solidFill>
                  <a:schemeClr val="lt1"/>
                </a:solidFill>
              </a:rPr>
              <a:t>Conectividad Densa (Skip-Connections)</a:t>
            </a:r>
            <a:endParaRPr sz="1100">
              <a:solidFill>
                <a:schemeClr val="lt1"/>
              </a:solidFill>
            </a:endParaRPr>
          </a:p>
          <a:p>
            <a:pPr indent="0" lvl="0" marL="457200" rtl="0" algn="l">
              <a:lnSpc>
                <a:spcPct val="115000"/>
              </a:lnSpc>
              <a:spcBef>
                <a:spcPts val="1200"/>
              </a:spcBef>
              <a:spcAft>
                <a:spcPts val="0"/>
              </a:spcAft>
              <a:buNone/>
            </a:pPr>
            <a:r>
              <a:rPr b="1" lang="es-419" sz="1100">
                <a:solidFill>
                  <a:schemeClr val="lt1"/>
                </a:solidFill>
              </a:rPr>
              <a:t>Topología no lineal:</a:t>
            </a:r>
            <a:r>
              <a:rPr lang="es-419" sz="1100">
                <a:solidFill>
                  <a:schemeClr val="lt1"/>
                </a:solidFill>
              </a:rPr>
              <a:t> Una capa puede recibir inputs de hasta 9 capas anteriores concatenadas.</a:t>
            </a:r>
            <a:endParaRPr sz="1100">
              <a:solidFill>
                <a:schemeClr val="lt1"/>
              </a:solidFill>
            </a:endParaRPr>
          </a:p>
          <a:p>
            <a:pPr indent="0" lvl="0" marL="457200" rtl="0" algn="l">
              <a:lnSpc>
                <a:spcPct val="115000"/>
              </a:lnSpc>
              <a:spcBef>
                <a:spcPts val="1200"/>
              </a:spcBef>
              <a:spcAft>
                <a:spcPts val="0"/>
              </a:spcAft>
              <a:buNone/>
            </a:pPr>
            <a:r>
              <a:rPr b="1" lang="es-419" sz="1100">
                <a:solidFill>
                  <a:schemeClr val="lt1"/>
                </a:solidFill>
              </a:rPr>
              <a:t>Kernels Híbridos:</a:t>
            </a:r>
            <a:r>
              <a:rPr lang="es-419" sz="1100">
                <a:solidFill>
                  <a:schemeClr val="lt1"/>
                </a:solidFill>
              </a:rPr>
              <a:t> Mezcla inusual de filtros cuadrados (3 X 3, 5 X 5) y rectangulares (1 X 7, 7 X1).</a:t>
            </a:r>
            <a:endParaRPr sz="1100">
              <a:solidFill>
                <a:schemeClr val="lt1"/>
              </a:solidFill>
            </a:endParaRPr>
          </a:p>
          <a:p>
            <a:pPr indent="0" lvl="0" marL="457200" rtl="0" algn="l">
              <a:lnSpc>
                <a:spcPct val="115000"/>
              </a:lnSpc>
              <a:spcBef>
                <a:spcPts val="1200"/>
              </a:spcBef>
              <a:spcAft>
                <a:spcPts val="0"/>
              </a:spcAft>
              <a:buNone/>
            </a:pPr>
            <a:r>
              <a:rPr b="1" lang="es-419" sz="1100">
                <a:solidFill>
                  <a:schemeClr val="lt1"/>
                </a:solidFill>
              </a:rPr>
              <a:t>Preservación Espacial:</a:t>
            </a:r>
            <a:r>
              <a:rPr lang="es-419" sz="1100">
                <a:solidFill>
                  <a:schemeClr val="lt1"/>
                </a:solidFill>
              </a:rPr>
              <a:t> Stride 1 fijo sin Max Pooling (mantiene resolución 32 X 32).</a:t>
            </a:r>
            <a:endParaRPr sz="1100">
              <a:solidFill>
                <a:schemeClr val="lt1"/>
              </a:solidFill>
            </a:endParaRPr>
          </a:p>
          <a:p>
            <a:pPr indent="0" lvl="0" marL="45720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43" name="Google Shape;143;p20"/>
          <p:cNvPicPr preferRelativeResize="0"/>
          <p:nvPr/>
        </p:nvPicPr>
        <p:blipFill>
          <a:blip r:embed="rId3">
            <a:alphaModFix/>
          </a:blip>
          <a:stretch>
            <a:fillRect/>
          </a:stretch>
        </p:blipFill>
        <p:spPr>
          <a:xfrm>
            <a:off x="6381850" y="1222225"/>
            <a:ext cx="2762151" cy="39212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Resultados Fase B - Comparativa</a:t>
            </a:r>
            <a:endParaRPr/>
          </a:p>
        </p:txBody>
      </p:sp>
      <p:sp>
        <p:nvSpPr>
          <p:cNvPr id="149" name="Google Shape;149;p21"/>
          <p:cNvSpPr txBox="1"/>
          <p:nvPr/>
        </p:nvSpPr>
        <p:spPr>
          <a:xfrm>
            <a:off x="568100" y="1122200"/>
            <a:ext cx="8222100" cy="7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500">
                <a:solidFill>
                  <a:schemeClr val="lt1"/>
                </a:solidFill>
              </a:rPr>
              <a:t>Accuracy en Test:</a:t>
            </a:r>
            <a:r>
              <a:rPr lang="es-419" sz="1500">
                <a:solidFill>
                  <a:schemeClr val="lt1"/>
                </a:solidFill>
              </a:rPr>
              <a:t> 91.06% (vs 94.50% reportado en el paper). </a:t>
            </a:r>
            <a:endParaRPr sz="1500">
              <a:solidFill>
                <a:schemeClr val="lt1"/>
              </a:solidFill>
            </a:endParaRPr>
          </a:p>
          <a:p>
            <a:pPr indent="0" lvl="0" marL="0" rtl="0" algn="l">
              <a:spcBef>
                <a:spcPts val="0"/>
              </a:spcBef>
              <a:spcAft>
                <a:spcPts val="0"/>
              </a:spcAft>
              <a:buNone/>
            </a:pPr>
            <a:r>
              <a:rPr b="1" lang="es-419" sz="1500">
                <a:solidFill>
                  <a:schemeClr val="lt1"/>
                </a:solidFill>
              </a:rPr>
              <a:t>Parámetros:</a:t>
            </a:r>
            <a:r>
              <a:rPr lang="es-419" sz="1500">
                <a:solidFill>
                  <a:schemeClr val="lt1"/>
                </a:solidFill>
              </a:rPr>
              <a:t> ~4.2 Millones (Coincidencia exacta con el original).</a:t>
            </a:r>
            <a:endParaRPr sz="1500">
              <a:solidFill>
                <a:schemeClr val="lt1"/>
              </a:solidFill>
            </a:endParaRPr>
          </a:p>
          <a:p>
            <a:pPr indent="0" lvl="0" marL="0" rtl="0" algn="l">
              <a:spcBef>
                <a:spcPts val="0"/>
              </a:spcBef>
              <a:spcAft>
                <a:spcPts val="0"/>
              </a:spcAft>
              <a:buNone/>
            </a:pPr>
            <a:r>
              <a:rPr b="1" lang="es-419" sz="1500">
                <a:solidFill>
                  <a:schemeClr val="lt1"/>
                </a:solidFill>
              </a:rPr>
              <a:t>Entrenamiento:</a:t>
            </a:r>
            <a:r>
              <a:rPr lang="es-419" sz="1500">
                <a:solidFill>
                  <a:schemeClr val="lt1"/>
                </a:solidFill>
              </a:rPr>
              <a:t> Detenido en época 87 por </a:t>
            </a:r>
            <a:r>
              <a:rPr i="1" lang="es-419" sz="1500">
                <a:solidFill>
                  <a:schemeClr val="lt1"/>
                </a:solidFill>
              </a:rPr>
              <a:t>Early Stopping</a:t>
            </a:r>
            <a:r>
              <a:rPr lang="es-419" sz="1500">
                <a:solidFill>
                  <a:schemeClr val="lt1"/>
                </a:solidFill>
              </a:rPr>
              <a:t> para evitar sobreajuste</a:t>
            </a:r>
            <a:endParaRPr sz="2200">
              <a:solidFill>
                <a:schemeClr val="lt1"/>
              </a:solidFill>
              <a:latin typeface="Roboto"/>
              <a:ea typeface="Roboto"/>
              <a:cs typeface="Roboto"/>
              <a:sym typeface="Roboto"/>
            </a:endParaRPr>
          </a:p>
        </p:txBody>
      </p:sp>
      <p:pic>
        <p:nvPicPr>
          <p:cNvPr id="150" name="Google Shape;150;p21"/>
          <p:cNvPicPr preferRelativeResize="0"/>
          <p:nvPr/>
        </p:nvPicPr>
        <p:blipFill>
          <a:blip r:embed="rId3">
            <a:alphaModFix/>
          </a:blip>
          <a:stretch>
            <a:fillRect/>
          </a:stretch>
        </p:blipFill>
        <p:spPr>
          <a:xfrm>
            <a:off x="0" y="1907350"/>
            <a:ext cx="5542425" cy="3236150"/>
          </a:xfrm>
          <a:prstGeom prst="rect">
            <a:avLst/>
          </a:prstGeom>
          <a:noFill/>
          <a:ln>
            <a:noFill/>
          </a:ln>
        </p:spPr>
      </p:pic>
      <p:pic>
        <p:nvPicPr>
          <p:cNvPr id="151" name="Google Shape;151;p21"/>
          <p:cNvPicPr preferRelativeResize="0"/>
          <p:nvPr/>
        </p:nvPicPr>
        <p:blipFill>
          <a:blip r:embed="rId4">
            <a:alphaModFix/>
          </a:blip>
          <a:stretch>
            <a:fillRect/>
          </a:stretch>
        </p:blipFill>
        <p:spPr>
          <a:xfrm>
            <a:off x="5542425" y="2069373"/>
            <a:ext cx="3601574" cy="29121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568100" y="162922"/>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Conclusiones</a:t>
            </a:r>
            <a:endParaRPr/>
          </a:p>
        </p:txBody>
      </p:sp>
      <p:sp>
        <p:nvSpPr>
          <p:cNvPr id="157" name="Google Shape;157;p22"/>
          <p:cNvSpPr/>
          <p:nvPr/>
        </p:nvSpPr>
        <p:spPr>
          <a:xfrm>
            <a:off x="1400450" y="1121475"/>
            <a:ext cx="7097700" cy="1042800"/>
          </a:xfrm>
          <a:prstGeom prst="flowChartAlternateProcess">
            <a:avLst/>
          </a:prstGeom>
          <a:solidFill>
            <a:schemeClr val="lt1"/>
          </a:solidFill>
          <a:ln cap="flat" cmpd="sng" w="2857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s-419" sz="1300"/>
              <a:t>Validación del Método (NAS + RL)</a:t>
            </a:r>
            <a:r>
              <a:rPr lang="es-419" sz="1300"/>
              <a:t>: Se confirmó empíricamente que un agente autónomo puede descubrir topologías eficientes (kernels gigantes, conexiones densas) que superan la intuición humana, incluso en escenarios de recursos limitados.</a:t>
            </a:r>
            <a:endParaRPr sz="1600">
              <a:latin typeface="Roboto"/>
              <a:ea typeface="Roboto"/>
              <a:cs typeface="Roboto"/>
              <a:sym typeface="Roboto"/>
            </a:endParaRPr>
          </a:p>
        </p:txBody>
      </p:sp>
      <p:sp>
        <p:nvSpPr>
          <p:cNvPr id="158" name="Google Shape;158;p22"/>
          <p:cNvSpPr/>
          <p:nvPr/>
        </p:nvSpPr>
        <p:spPr>
          <a:xfrm>
            <a:off x="1400300" y="2369525"/>
            <a:ext cx="7097700" cy="1042800"/>
          </a:xfrm>
          <a:prstGeom prst="flowChartAlternateProcess">
            <a:avLst/>
          </a:prstGeom>
          <a:solidFill>
            <a:schemeClr val="lt1"/>
          </a:solidFill>
          <a:ln cap="flat" cmpd="sng" w="2857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s-419" sz="1300"/>
              <a:t>La Barrera de la Reproducibilidad: </a:t>
            </a:r>
            <a:r>
              <a:rPr lang="es-419" sz="1300"/>
              <a:t>La reconstrucción de </a:t>
            </a:r>
            <a:r>
              <a:rPr i="1" lang="es-419" sz="1300"/>
              <a:t>NASCNN15</a:t>
            </a:r>
            <a:r>
              <a:rPr lang="es-419" sz="1300"/>
              <a:t> evidenció la dificultad de replicar ciencia de vanguardia cuando faltan detalles de implementación. Se logró recuperar un rendimiento competitivo (91.06%), validando la solidez estructural del diseño original.</a:t>
            </a:r>
            <a:endParaRPr sz="1600">
              <a:latin typeface="Roboto"/>
              <a:ea typeface="Roboto"/>
              <a:cs typeface="Roboto"/>
              <a:sym typeface="Roboto"/>
            </a:endParaRPr>
          </a:p>
        </p:txBody>
      </p:sp>
      <p:sp>
        <p:nvSpPr>
          <p:cNvPr id="159" name="Google Shape;159;p22"/>
          <p:cNvSpPr/>
          <p:nvPr/>
        </p:nvSpPr>
        <p:spPr>
          <a:xfrm>
            <a:off x="1400450" y="3574400"/>
            <a:ext cx="7097700" cy="1042800"/>
          </a:xfrm>
          <a:prstGeom prst="flowChartAlternateProcess">
            <a:avLst/>
          </a:prstGeom>
          <a:solidFill>
            <a:schemeClr val="lt1"/>
          </a:solidFill>
          <a:ln cap="flat" cmpd="sng" w="2857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s-419" sz="1300"/>
              <a:t>Limitaciones y Vigencia:</a:t>
            </a:r>
            <a:r>
              <a:rPr lang="es-419" sz="1300"/>
              <a:t> </a:t>
            </a:r>
            <a:r>
              <a:rPr b="1" lang="es-419" sz="1300"/>
              <a:t>Generalización:</a:t>
            </a:r>
            <a:r>
              <a:rPr lang="es-419" sz="1300"/>
              <a:t> Arquitecturas altamente optimizadas tienden a sobreajustarse al dataset de validación original (caída de rendimiento en </a:t>
            </a:r>
            <a:r>
              <a:rPr i="1" lang="es-419" sz="1300"/>
              <a:t>CIFAR-10.1</a:t>
            </a:r>
            <a:r>
              <a:rPr lang="es-419" sz="1300"/>
              <a:t>). * </a:t>
            </a:r>
            <a:r>
              <a:rPr b="1" lang="es-419" sz="1300"/>
              <a:t>Costo:</a:t>
            </a:r>
            <a:r>
              <a:rPr lang="es-419" sz="1300"/>
              <a:t> A pesar de la eficiencia del modelo final, el costo computacional de la </a:t>
            </a:r>
            <a:r>
              <a:rPr i="1" lang="es-419" sz="1300"/>
              <a:t>búsqueda</a:t>
            </a:r>
            <a:r>
              <a:rPr lang="es-419" sz="1300"/>
              <a:t> sigue siendo prohibitivo para la mayoría de los investigadores.</a:t>
            </a:r>
            <a:endParaRPr b="1" sz="1300"/>
          </a:p>
        </p:txBody>
      </p:sp>
      <p:pic>
        <p:nvPicPr>
          <p:cNvPr id="160" name="Google Shape;160;p22"/>
          <p:cNvPicPr preferRelativeResize="0"/>
          <p:nvPr/>
        </p:nvPicPr>
        <p:blipFill rotWithShape="1">
          <a:blip r:embed="rId3">
            <a:alphaModFix/>
          </a:blip>
          <a:srcRect b="1697" l="-4969" r="2719" t="-3946"/>
          <a:stretch/>
        </p:blipFill>
        <p:spPr>
          <a:xfrm>
            <a:off x="281250" y="3574400"/>
            <a:ext cx="1042800" cy="1042800"/>
          </a:xfrm>
          <a:prstGeom prst="rect">
            <a:avLst/>
          </a:prstGeom>
          <a:noFill/>
          <a:ln>
            <a:noFill/>
          </a:ln>
        </p:spPr>
      </p:pic>
      <p:pic>
        <p:nvPicPr>
          <p:cNvPr id="161" name="Google Shape;161;p22"/>
          <p:cNvPicPr preferRelativeResize="0"/>
          <p:nvPr/>
        </p:nvPicPr>
        <p:blipFill>
          <a:blip r:embed="rId4">
            <a:alphaModFix/>
          </a:blip>
          <a:stretch>
            <a:fillRect/>
          </a:stretch>
        </p:blipFill>
        <p:spPr>
          <a:xfrm>
            <a:off x="281250" y="2293125"/>
            <a:ext cx="1119200" cy="1119200"/>
          </a:xfrm>
          <a:prstGeom prst="rect">
            <a:avLst/>
          </a:prstGeom>
          <a:noFill/>
          <a:ln>
            <a:noFill/>
          </a:ln>
        </p:spPr>
      </p:pic>
      <p:pic>
        <p:nvPicPr>
          <p:cNvPr id="162" name="Google Shape;162;p22"/>
          <p:cNvPicPr preferRelativeResize="0"/>
          <p:nvPr/>
        </p:nvPicPr>
        <p:blipFill>
          <a:blip r:embed="rId5">
            <a:alphaModFix/>
          </a:blip>
          <a:stretch>
            <a:fillRect/>
          </a:stretch>
        </p:blipFill>
        <p:spPr>
          <a:xfrm>
            <a:off x="281100" y="1045075"/>
            <a:ext cx="1119200" cy="1119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311700" y="431300"/>
            <a:ext cx="8520600" cy="4219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8600"/>
              <a:t>Muchas Gracias!!</a:t>
            </a:r>
            <a:endParaRPr sz="8600"/>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